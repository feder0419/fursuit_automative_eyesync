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4" r:id="rId3"/>
    <p:sldMasterId id="2147483655" r:id="rId4"/>
    <p:sldMasterId id="2147483656" r:id="rId5"/>
    <p:sldMasterId id="2147483657" r:id="rId6"/>
    <p:sldMasterId id="2147483658" r:id="rId7"/>
    <p:sldMasterId id="2147483659" r:id="rId8"/>
  </p:sldMasterIdLst>
  <p:notesMasterIdLst>
    <p:notesMasterId r:id="rId16"/>
  </p:notesMasterIdLst>
  <p:sldIdLst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Segoe UI"/>
              </a:rPr>
              <a:t>Click to move the slide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dt" idx="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ftr" idx="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4" name="PlaceHolder 6"/>
          <p:cNvSpPr>
            <a:spLocks noGrp="1"/>
          </p:cNvSpPr>
          <p:nvPr>
            <p:ph type="sldNum" idx="1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ECD058-2385-4B71-A3DB-55F607FCFB4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(Gr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D1BC3D2-3545-4682-9EC1-DC509A6166A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(Gray)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5046B094-A6D9-4977-9E46-25F052FC528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24000" y="188640"/>
            <a:ext cx="9925200" cy="79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1125360">
              <a:lnSpc>
                <a:spcPct val="120000"/>
              </a:lnSpc>
              <a:buNone/>
            </a:pPr>
            <a:r>
              <a:rPr lang="en-US" sz="4430" b="1" strike="noStrike" spc="-1">
                <a:solidFill>
                  <a:schemeClr val="dk1"/>
                </a:solidFill>
                <a:latin typeface="Segoe UI"/>
                <a:ea typeface="メイリオ"/>
              </a:rPr>
              <a:t>The section title</a:t>
            </a:r>
            <a:endParaRPr lang="en-US" sz="443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210320" y="1340640"/>
            <a:ext cx="9936360" cy="525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/>
          <a:p>
            <a:pPr marL="432000" indent="-324000" defTabSz="112536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>
                    <a:tint val="75000"/>
                  </a:schemeClr>
                </a:solidFill>
                <a:latin typeface="Segoe UI"/>
                <a:ea typeface="Meiryo"/>
              </a:rPr>
              <a:t>Click to edit Master text styles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-8640" y="2160"/>
            <a:ext cx="523800" cy="6857640"/>
          </a:xfrm>
          <a:prstGeom prst="rect">
            <a:avLst/>
          </a:prstGeom>
          <a:solidFill>
            <a:schemeClr val="accent3">
              <a:lumMod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97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/>
        </p:nvSpPr>
        <p:spPr>
          <a:xfrm>
            <a:off x="0" y="0"/>
            <a:ext cx="12191760" cy="656280"/>
          </a:xfrm>
          <a:prstGeom prst="roundRect">
            <a:avLst>
              <a:gd name="adj" fmla="val 0"/>
            </a:avLst>
          </a:prstGeom>
          <a:solidFill>
            <a:schemeClr val="dk1"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970" b="0" strike="noStrike" spc="-1">
              <a:solidFill>
                <a:schemeClr val="lt1"/>
              </a:solidFill>
              <a:latin typeface="Segoe UI"/>
              <a:ea typeface="メイリオ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1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491B5B-48AF-48EF-BB2E-3F07D65969E5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75520" y="206100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1125360">
              <a:lnSpc>
                <a:spcPct val="12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chemeClr val="dk1"/>
                </a:solidFill>
                <a:latin typeface="Segoe UI"/>
                <a:ea typeface="Meiryo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Second level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  <a:p>
            <a:pPr marL="1296000" lvl="2" indent="0" defTabSz="1125360">
              <a:spcBef>
                <a:spcPts val="850"/>
              </a:spcBef>
              <a:buNone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 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Main message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13" name="Picture 8" descr="http://beta.collegeessayadvisor.com/wp-content/uploads/2012/08/CarnegieMellon.jpeg"/>
          <p:cNvPicPr/>
          <p:nvPr/>
        </p:nvPicPr>
        <p:blipFill>
          <a:blip r:embed="rId3"/>
          <a:stretch/>
        </p:blipFill>
        <p:spPr>
          <a:xfrm>
            <a:off x="9330840" y="6641280"/>
            <a:ext cx="2194200" cy="159480"/>
          </a:xfrm>
          <a:prstGeom prst="rect">
            <a:avLst/>
          </a:prstGeom>
          <a:ln w="0">
            <a:noFill/>
          </a:ln>
        </p:spPr>
      </p:pic>
      <p:grpSp>
        <p:nvGrpSpPr>
          <p:cNvPr id="14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15" name="Oval 12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16" name="Oval 13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17" name="Oval 14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18" name="TextBox 15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Num" idx="2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6FAA85-FA82-4860-A0FD-3D3B9EC72145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9807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21" name="Line 5"/>
          <p:cNvSpPr/>
          <p:nvPr/>
        </p:nvSpPr>
        <p:spPr>
          <a:xfrm>
            <a:off x="0" y="620640"/>
            <a:ext cx="12191760" cy="360"/>
          </a:xfrm>
          <a:prstGeom prst="line">
            <a:avLst/>
          </a:prstGeom>
          <a:ln w="9360">
            <a:solidFill>
              <a:schemeClr val="l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210" b="0" strike="noStrike" spc="-1">
              <a:solidFill>
                <a:schemeClr val="dk1"/>
              </a:solidFill>
              <a:latin typeface="Segoe UI"/>
              <a:ea typeface="Meiryo"/>
            </a:endParaRPr>
          </a:p>
        </p:txBody>
      </p:sp>
      <p:sp>
        <p:nvSpPr>
          <p:cNvPr id="22" name="Rectangle 10"/>
          <p:cNvSpPr/>
          <p:nvPr/>
        </p:nvSpPr>
        <p:spPr>
          <a:xfrm>
            <a:off x="0" y="487440"/>
            <a:ext cx="360" cy="34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endParaRPr lang="en-US" sz="2210" b="0" strike="noStrike" spc="-1">
              <a:solidFill>
                <a:schemeClr val="dk1"/>
              </a:solidFill>
              <a:latin typeface="Segoe UI"/>
              <a:ea typeface="Meiry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778320" y="692640"/>
            <a:ext cx="106790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112536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Main message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75520" y="1845000"/>
            <a:ext cx="10581840" cy="47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-421920" defTabSz="1125360">
              <a:lnSpc>
                <a:spcPct val="120000"/>
              </a:lnSpc>
              <a:spcBef>
                <a:spcPts val="737"/>
              </a:spcBef>
              <a:spcAft>
                <a:spcPts val="737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Segoe UI"/>
                <a:ea typeface="Meiryo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914400" lvl="1" indent="-35172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Clr>
                <a:srgbClr val="4D4D4D"/>
              </a:buClr>
              <a:buSzPct val="130000"/>
              <a:buFont typeface="Arial"/>
              <a:buChar char="•"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Second level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None/>
            </a:pP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25" name="Picture 7" descr="http://beta.collegeessayadvisor.com/wp-content/uploads/2012/08/CarnegieMellon.jpeg"/>
          <p:cNvPicPr/>
          <p:nvPr/>
        </p:nvPicPr>
        <p:blipFill>
          <a:blip r:embed="rId2"/>
          <a:stretch/>
        </p:blipFill>
        <p:spPr>
          <a:xfrm>
            <a:off x="9330840" y="6641280"/>
            <a:ext cx="2194200" cy="182520"/>
          </a:xfrm>
          <a:prstGeom prst="rect">
            <a:avLst/>
          </a:prstGeom>
          <a:ln w="0">
            <a:noFill/>
          </a:ln>
        </p:spPr>
      </p:pic>
      <p:grpSp>
        <p:nvGrpSpPr>
          <p:cNvPr id="26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27" name="Oval 14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28" name="Oval 15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29" name="Oval 16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30" name="TextBox 17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9807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3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99FF16-876C-447B-825D-BE7E015C5F20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778320" y="692640"/>
            <a:ext cx="10679040" cy="111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112536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Main message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75520" y="1845000"/>
            <a:ext cx="10582200" cy="474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-421920" defTabSz="1125360">
              <a:lnSpc>
                <a:spcPct val="120000"/>
              </a:lnSpc>
              <a:spcBef>
                <a:spcPts val="737"/>
              </a:spcBef>
              <a:spcAft>
                <a:spcPts val="737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Segoe UI"/>
                <a:ea typeface="Meiryo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914400" lvl="1" indent="-35172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Clr>
                <a:srgbClr val="4D4D4D"/>
              </a:buClr>
              <a:buSzPct val="130000"/>
              <a:buFont typeface="Arial"/>
              <a:buChar char="•"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Second level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None/>
            </a:pP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35" name="Picture 5" descr="http://beta.collegeessayadvisor.com/wp-content/uploads/2012/08/CarnegieMellon.jpeg"/>
          <p:cNvPicPr/>
          <p:nvPr/>
        </p:nvPicPr>
        <p:blipFill>
          <a:blip r:embed="rId2"/>
          <a:stretch/>
        </p:blipFill>
        <p:spPr>
          <a:xfrm>
            <a:off x="9330840" y="6641280"/>
            <a:ext cx="2194200" cy="159480"/>
          </a:xfrm>
          <a:prstGeom prst="rect">
            <a:avLst/>
          </a:prstGeom>
          <a:ln w="0">
            <a:noFill/>
          </a:ln>
        </p:spPr>
      </p:pic>
      <p:grpSp>
        <p:nvGrpSpPr>
          <p:cNvPr id="36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37" name="Oval 9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38" name="Oval 10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39" name="Oval 11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40" name="TextBox 12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角丸四角形 7"/>
          <p:cNvSpPr/>
          <p:nvPr/>
        </p:nvSpPr>
        <p:spPr>
          <a:xfrm>
            <a:off x="0" y="0"/>
            <a:ext cx="12191760" cy="656280"/>
          </a:xfrm>
          <a:prstGeom prst="roundRect">
            <a:avLst>
              <a:gd name="adj" fmla="val 0"/>
            </a:avLst>
          </a:prstGeom>
          <a:solidFill>
            <a:schemeClr val="dk1"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970" b="0" strike="noStrike" spc="-1">
              <a:solidFill>
                <a:schemeClr val="lt1"/>
              </a:solidFill>
              <a:latin typeface="Segoe UI"/>
              <a:ea typeface="メイリオ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4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307A1-9991-42DC-A733-CCE3E5DFB8E5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623520" y="152640"/>
            <a:ext cx="112327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44" name="Picture 4" descr="http://beta.collegeessayadvisor.com/wp-content/uploads/2012/08/CarnegieMellon.jpeg"/>
          <p:cNvPicPr/>
          <p:nvPr/>
        </p:nvPicPr>
        <p:blipFill>
          <a:blip r:embed="rId2"/>
          <a:stretch/>
        </p:blipFill>
        <p:spPr>
          <a:xfrm>
            <a:off x="9330840" y="6641280"/>
            <a:ext cx="2194200" cy="182520"/>
          </a:xfrm>
          <a:prstGeom prst="rect">
            <a:avLst/>
          </a:prstGeom>
          <a:ln w="0">
            <a:noFill/>
          </a:ln>
        </p:spPr>
      </p:pic>
      <p:grpSp>
        <p:nvGrpSpPr>
          <p:cNvPr id="45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46" name="Oval 6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47" name="Oval 8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48" name="Oval 9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49" name="TextBox 10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5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01253D-FD8E-4F12-A5EF-3352E6A579B4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731880" y="152640"/>
            <a:ext cx="111247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52" name="Line 5"/>
          <p:cNvSpPr/>
          <p:nvPr/>
        </p:nvSpPr>
        <p:spPr>
          <a:xfrm>
            <a:off x="0" y="620640"/>
            <a:ext cx="12191760" cy="360"/>
          </a:xfrm>
          <a:prstGeom prst="line">
            <a:avLst/>
          </a:prstGeom>
          <a:ln w="9360">
            <a:solidFill>
              <a:schemeClr val="l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2210" b="0" strike="noStrike" spc="-1">
              <a:solidFill>
                <a:schemeClr val="dk1"/>
              </a:solidFill>
              <a:latin typeface="Segoe UI"/>
              <a:ea typeface="Meiryo"/>
            </a:endParaRPr>
          </a:p>
        </p:txBody>
      </p:sp>
      <p:sp>
        <p:nvSpPr>
          <p:cNvPr id="53" name="Rectangle 10"/>
          <p:cNvSpPr/>
          <p:nvPr/>
        </p:nvSpPr>
        <p:spPr>
          <a:xfrm>
            <a:off x="0" y="487440"/>
            <a:ext cx="360" cy="34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endParaRPr lang="en-US" sz="2210" b="0" strike="noStrike" spc="-1">
              <a:solidFill>
                <a:schemeClr val="dk1"/>
              </a:solidFill>
              <a:latin typeface="Segoe UI"/>
              <a:ea typeface="Meiryo"/>
            </a:endParaRPr>
          </a:p>
        </p:txBody>
      </p:sp>
      <p:pic>
        <p:nvPicPr>
          <p:cNvPr id="54" name="Picture 5" descr="http://beta.collegeessayadvisor.com/wp-content/uploads/2012/08/CarnegieMellon.jpeg"/>
          <p:cNvPicPr/>
          <p:nvPr/>
        </p:nvPicPr>
        <p:blipFill>
          <a:blip r:embed="rId2"/>
          <a:stretch/>
        </p:blipFill>
        <p:spPr>
          <a:xfrm>
            <a:off x="9330840" y="6641280"/>
            <a:ext cx="2194200" cy="182520"/>
          </a:xfrm>
          <a:prstGeom prst="rect">
            <a:avLst/>
          </a:prstGeom>
          <a:ln w="0">
            <a:noFill/>
          </a:ln>
        </p:spPr>
      </p:pic>
      <p:grpSp>
        <p:nvGrpSpPr>
          <p:cNvPr id="55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56" name="Oval 7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57" name="Oval 10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58" name="Oval 12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59" name="TextBox 13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95520" y="152640"/>
            <a:ext cx="111607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dk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6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1E9144-5024-4A6F-AF57-BB1723F6904F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2" name="Picture 4" descr="http://beta.collegeessayadvisor.com/wp-content/uploads/2012/08/CarnegieMellon.jpeg"/>
          <p:cNvPicPr/>
          <p:nvPr/>
        </p:nvPicPr>
        <p:blipFill>
          <a:blip r:embed="rId2"/>
          <a:stretch/>
        </p:blipFill>
        <p:spPr>
          <a:xfrm>
            <a:off x="9330840" y="6641280"/>
            <a:ext cx="2194200" cy="182520"/>
          </a:xfrm>
          <a:prstGeom prst="rect">
            <a:avLst/>
          </a:prstGeom>
          <a:ln w="0">
            <a:noFill/>
          </a:ln>
        </p:spPr>
      </p:pic>
      <p:grpSp>
        <p:nvGrpSpPr>
          <p:cNvPr id="63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64" name="Oval 6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65" name="Oval 7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66" name="Oval 8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67" name="TextBox 9"/>
          <p:cNvSpPr/>
          <p:nvPr/>
        </p:nvSpPr>
        <p:spPr>
          <a:xfrm>
            <a:off x="484200" y="650340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角丸四角形 7"/>
          <p:cNvSpPr/>
          <p:nvPr/>
        </p:nvSpPr>
        <p:spPr>
          <a:xfrm>
            <a:off x="0" y="0"/>
            <a:ext cx="12191760" cy="656280"/>
          </a:xfrm>
          <a:prstGeom prst="roundRect">
            <a:avLst>
              <a:gd name="adj" fmla="val 0"/>
            </a:avLst>
          </a:prstGeom>
          <a:solidFill>
            <a:schemeClr val="dk1"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970" b="0" strike="noStrike" spc="-1">
              <a:solidFill>
                <a:schemeClr val="lt1"/>
              </a:solidFill>
              <a:latin typeface="Segoe UI"/>
              <a:ea typeface="メイリオ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7"/>
          </p:nvPr>
        </p:nvSpPr>
        <p:spPr>
          <a:xfrm>
            <a:off x="9153720" y="6592320"/>
            <a:ext cx="2844360" cy="25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30" b="1" strike="noStrike" spc="-1">
                <a:solidFill>
                  <a:srgbClr val="4D4D4D"/>
                </a:solidFill>
                <a:latin typeface="Segoe UI"/>
                <a:ea typeface="メイリオ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229D6-65B9-462A-B3A5-CB5920DA1EF9}" type="slidenum">
              <a:rPr lang="en-US" sz="1230" b="1" strike="noStrike" spc="-1">
                <a:solidFill>
                  <a:srgbClr val="4D4D4D"/>
                </a:solidFill>
                <a:latin typeface="Segoe UI"/>
                <a:ea typeface="メイリオ"/>
              </a:rPr>
              <a:t>‹#›</a:t>
            </a:fld>
            <a:endParaRPr lang="en-US" sz="123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Page title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75520" y="206100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1125360">
              <a:lnSpc>
                <a:spcPct val="12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chemeClr val="dk1"/>
                </a:solidFill>
                <a:latin typeface="Segoe UI"/>
                <a:ea typeface="Meiryo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lnSpc>
                <a:spcPct val="110000"/>
              </a:lnSpc>
              <a:spcBef>
                <a:spcPts val="320"/>
              </a:spcBef>
              <a:spcAft>
                <a:spcPts val="73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Second level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  <a:p>
            <a:pPr marL="1296000" lvl="2" indent="0" defTabSz="1125360">
              <a:spcBef>
                <a:spcPts val="850"/>
              </a:spcBef>
              <a:buNone/>
            </a:pPr>
            <a:r>
              <a:rPr lang="en-US" sz="1600" b="0" strike="noStrike" spc="-1">
                <a:solidFill>
                  <a:schemeClr val="dk1"/>
                </a:solidFill>
                <a:latin typeface="Segoe UI"/>
                <a:ea typeface="Meiryo"/>
              </a:rPr>
              <a:t> 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Main message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73" name="Picture 8" descr="http://beta.collegeessayadvisor.com/wp-content/uploads/2012/08/CarnegieMellon.jpeg"/>
          <p:cNvPicPr/>
          <p:nvPr/>
        </p:nvPicPr>
        <p:blipFill>
          <a:blip r:embed="rId3"/>
          <a:stretch/>
        </p:blipFill>
        <p:spPr>
          <a:xfrm>
            <a:off x="9330840" y="6641280"/>
            <a:ext cx="2194200" cy="159480"/>
          </a:xfrm>
          <a:prstGeom prst="rect">
            <a:avLst/>
          </a:prstGeom>
          <a:ln w="0">
            <a:noFill/>
          </a:ln>
        </p:spPr>
      </p:pic>
      <p:grpSp>
        <p:nvGrpSpPr>
          <p:cNvPr id="74" name="Group 7"/>
          <p:cNvGrpSpPr/>
          <p:nvPr/>
        </p:nvGrpSpPr>
        <p:grpSpPr>
          <a:xfrm>
            <a:off x="221040" y="6525360"/>
            <a:ext cx="327600" cy="285480"/>
            <a:chOff x="221040" y="6525360"/>
            <a:chExt cx="327600" cy="285480"/>
          </a:xfrm>
        </p:grpSpPr>
        <p:sp>
          <p:nvSpPr>
            <p:cNvPr id="75" name="Oval 12"/>
            <p:cNvSpPr/>
            <p:nvPr/>
          </p:nvSpPr>
          <p:spPr>
            <a:xfrm rot="19996800">
              <a:off x="263160" y="6572520"/>
              <a:ext cx="108360" cy="214200"/>
            </a:xfrm>
            <a:prstGeom prst="ellipse">
              <a:avLst/>
            </a:prstGeom>
            <a:solidFill>
              <a:srgbClr val="828282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76" name="Oval 13"/>
            <p:cNvSpPr/>
            <p:nvPr/>
          </p:nvSpPr>
          <p:spPr>
            <a:xfrm rot="5400000">
              <a:off x="351000" y="6462360"/>
              <a:ext cx="74520" cy="200520"/>
            </a:xfrm>
            <a:prstGeom prst="ellipse">
              <a:avLst/>
            </a:prstGeom>
            <a:solidFill>
              <a:schemeClr val="dk1">
                <a:lumMod val="75000"/>
                <a:lumOff val="25000"/>
              </a:schemeClr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  <p:sp>
          <p:nvSpPr>
            <p:cNvPr id="77" name="Oval 14"/>
            <p:cNvSpPr/>
            <p:nvPr/>
          </p:nvSpPr>
          <p:spPr>
            <a:xfrm rot="1590000">
              <a:off x="397800" y="6572160"/>
              <a:ext cx="105840" cy="226800"/>
            </a:xfrm>
            <a:prstGeom prst="ellipse">
              <a:avLst/>
            </a:prstGeom>
            <a:solidFill>
              <a:srgbClr val="21212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210" b="0" strike="noStrike" spc="-1">
                <a:solidFill>
                  <a:schemeClr val="lt1"/>
                </a:solidFill>
                <a:latin typeface="Segoe UI"/>
                <a:ea typeface="Meiryo"/>
              </a:endParaRPr>
            </a:p>
          </p:txBody>
        </p:sp>
      </p:grpSp>
      <p:sp>
        <p:nvSpPr>
          <p:cNvPr id="78" name="TextBox 15"/>
          <p:cNvSpPr/>
          <p:nvPr/>
        </p:nvSpPr>
        <p:spPr>
          <a:xfrm>
            <a:off x="484200" y="6473880"/>
            <a:ext cx="1202040" cy="3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.C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ER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L</a:t>
            </a:r>
            <a:r>
              <a:rPr lang="en-US" sz="197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Segoe UI"/>
                <a:ea typeface="Meiryo"/>
              </a:rPr>
              <a:t>AB</a:t>
            </a:r>
            <a:r>
              <a:rPr lang="en-US" sz="1970" b="0" strike="noStrike" spc="-1">
                <a:solidFill>
                  <a:srgbClr val="C00000"/>
                </a:solidFill>
                <a:latin typeface="Segoe UI"/>
                <a:ea typeface="Meiryo"/>
              </a:rPr>
              <a:t>.</a:t>
            </a:r>
            <a:endParaRPr lang="en-US" sz="197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zptcled.com/video-indoor-flexible-LED-display.html" TargetMode="External"/><Relationship Id="rId2" Type="http://schemas.openxmlformats.org/officeDocument/2006/relationships/hyperlink" Target="http://www.furaffinity.net/view/5090556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-HLhCtlKWJE?t=5" TargetMode="External"/><Relationship Id="rId2" Type="http://schemas.openxmlformats.org/officeDocument/2006/relationships/hyperlink" Target="https://vetco.net/products/vupn2216_transparent_oled_display_with_breakout_board_-_1-51?variant=42879358697609&amp;country=US&amp;currency=USD&amp;utm_medium=product_sync&amp;utm_source=google&amp;utm_content=sag_organic&amp;utm_campaign=sag_organic&amp;srsltid=AfmBOooHww1dYwwS9dn3kuI7l7_kLguMDja5_EiFBD0haYDnq3OjCV-3B7Q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://www.furaffinity.net/view/5711242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224000" y="188640"/>
            <a:ext cx="9925200" cy="79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920" b="1" strike="noStrike" spc="-1">
                <a:solidFill>
                  <a:schemeClr val="dk1"/>
                </a:solidFill>
                <a:latin typeface="Segoe UI"/>
                <a:ea typeface="メイリオ"/>
              </a:rPr>
              <a:t>2025.1.11 Electronic Eye Display </a:t>
            </a:r>
            <a:endParaRPr lang="en-US" sz="492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210320" y="1340640"/>
            <a:ext cx="9936360" cy="525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10" b="1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Goal:</a:t>
            </a: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Add expressive, animated electronic eyes to a fursuit head, under strong constraints: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1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The Eyes must:</a:t>
            </a: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marL="432000" indent="-32400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6969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1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Look like real “eyes” when powered off</a:t>
            </a: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marL="432000" indent="-32400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6969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1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Support animated expressions when powered on</a:t>
            </a: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marL="432000" indent="-32400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6969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1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Be safe, lightweight, and wearable</a:t>
            </a: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Key Constraint: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432000" indent="-32400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6969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The main difference between design options is the display technology</a:t>
            </a:r>
            <a:endParaRPr lang="en-US" sz="2100" b="0" strike="noStrike" spc="-1">
              <a:solidFill>
                <a:schemeClr val="dk1"/>
              </a:solidFill>
              <a:latin typeface="Segoe UI"/>
            </a:endParaRPr>
          </a:p>
          <a:p>
            <a:pPr marL="432000" indent="-32400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6969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Outer mechanical/optical structure is shared</a:t>
            </a:r>
            <a:endParaRPr lang="en-US" sz="21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strike="noStrike" spc="-1">
              <a:solidFill>
                <a:schemeClr val="dk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Overall structure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75160" y="182880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Overall fursuit eye structure: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200" b="0" strike="noStrike" spc="-1">
                <a:solidFill>
                  <a:schemeClr val="dk1"/>
                </a:solidFill>
                <a:latin typeface="Segoe UI"/>
              </a:rPr>
              <a:t>Anti-glare (reduce reflections)</a:t>
            </a: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200" b="0" strike="noStrike" spc="-1">
                <a:solidFill>
                  <a:schemeClr val="dk1"/>
                </a:solidFill>
                <a:latin typeface="Segoe UI"/>
              </a:rPr>
              <a:t>Anti-moire (camera friendliness)</a:t>
            </a: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200" b="0" strike="noStrike" spc="-1">
                <a:solidFill>
                  <a:schemeClr val="dk1"/>
                </a:solidFill>
                <a:latin typeface="Segoe UI"/>
                <a:ea typeface="Meiryo"/>
              </a:rPr>
              <a:t>Transparent plastic shell (as existing</a:t>
            </a: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200" b="0" strike="noStrike" spc="-1">
                <a:solidFill>
                  <a:schemeClr val="dk1"/>
                </a:solidFill>
                <a:latin typeface="Segoe UI"/>
              </a:rPr>
              <a:t>Anti-fog (wearability)</a:t>
            </a: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200" b="1" strike="noStrike" spc="-1">
                <a:solidFill>
                  <a:schemeClr val="dk1"/>
                </a:solidFill>
                <a:latin typeface="Segoe UI"/>
              </a:rPr>
              <a:t>Internal display Unit</a:t>
            </a: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1" strike="noStrike" spc="-1">
                <a:solidFill>
                  <a:schemeClr val="dk1"/>
                </a:solidFill>
                <a:latin typeface="Segoe UI"/>
              </a:rPr>
              <a:t>three display options</a:t>
            </a:r>
            <a:endParaRPr lang="en-US" sz="16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The main message of this page – this is more important than the itemized list.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5735880" y="2061000"/>
            <a:ext cx="5184360" cy="38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5663880" y="1917000"/>
            <a:ext cx="536436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06" name="Straight Connector 105"/>
          <p:cNvSpPr/>
          <p:nvPr/>
        </p:nvSpPr>
        <p:spPr>
          <a:xfrm>
            <a:off x="7315200" y="2286000"/>
            <a:ext cx="2971800" cy="0"/>
          </a:xfrm>
          <a:prstGeom prst="line">
            <a:avLst/>
          </a:prstGeom>
          <a:ln w="914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-90000" rIns="135000" bIns="-90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Content Placeholder 1"/>
          <p:cNvSpPr txBox="1"/>
          <p:nvPr/>
        </p:nvSpPr>
        <p:spPr>
          <a:xfrm>
            <a:off x="5780160" y="2061000"/>
            <a:ext cx="1763640" cy="68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590"/>
              </a:spcBef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Outside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8" name="Content Placeholder 2"/>
          <p:cNvSpPr txBox="1"/>
          <p:nvPr/>
        </p:nvSpPr>
        <p:spPr>
          <a:xfrm>
            <a:off x="10287000" y="1946880"/>
            <a:ext cx="1763640" cy="68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590"/>
              </a:spcBef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inside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8229600" y="2629080"/>
            <a:ext cx="3086280" cy="3657600"/>
          </a:xfrm>
          <a:prstGeom prst="ellipse">
            <a:avLst/>
          </a:prstGeom>
          <a:noFill/>
          <a:ln w="763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8160" tIns="83160" rIns="128160" bIns="8316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459640" y="2629080"/>
            <a:ext cx="2747160" cy="3657600"/>
          </a:xfrm>
          <a:prstGeom prst="ellipse">
            <a:avLst/>
          </a:prstGeom>
          <a:noFill/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8459640" y="2629080"/>
            <a:ext cx="2747160" cy="3657600"/>
          </a:xfrm>
          <a:prstGeom prst="ellipse">
            <a:avLst/>
          </a:prstGeom>
          <a:noFill/>
          <a:ln w="38160">
            <a:solidFill>
              <a:srgbClr val="B51E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8003520" y="2629080"/>
            <a:ext cx="2747160" cy="3657600"/>
          </a:xfrm>
          <a:prstGeom prst="ellipse">
            <a:avLst/>
          </a:prstGeom>
          <a:noFill/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7768440" y="2629080"/>
            <a:ext cx="2977200" cy="3657600"/>
          </a:xfrm>
          <a:prstGeom prst="ellipse">
            <a:avLst/>
          </a:prstGeom>
          <a:noFill/>
          <a:ln w="38160">
            <a:solidFill>
              <a:srgbClr val="C9211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9372600" y="2629080"/>
            <a:ext cx="2057400" cy="40003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487080" y="2857680"/>
            <a:ext cx="1028520" cy="3200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Display</a:t>
            </a:r>
          </a:p>
          <a:p>
            <a:pPr algn="ctr"/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Unit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6431F79-E8E8-4EB4-A3C2-058403682B1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Flexible LED Matrix 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228600" y="205740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Segoe UI"/>
                <a:ea typeface="Meiryo"/>
              </a:rPr>
              <a:t>Pros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Flexible, can be curved to real eye shape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Very bright (good for stage / photography)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Simple, many mature applications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100" b="0" strike="noStrike" spc="-1">
                <a:solidFill>
                  <a:schemeClr val="dk1"/>
                </a:solidFill>
                <a:latin typeface="Segoe UI"/>
                <a:ea typeface="Meiryo"/>
              </a:rPr>
              <a:t>Cons</a:t>
            </a:r>
            <a:endParaRPr lang="en-US" sz="21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low pixel density (~40px hori, ~25px verti)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Pixilated (very much like </a:t>
            </a:r>
            <a:r>
              <a:rPr lang="en-US" sz="1800" b="0" u="sng" strike="noStrike" spc="-1">
                <a:solidFill>
                  <a:schemeClr val="dk1"/>
                </a:solidFill>
                <a:uFillTx/>
                <a:latin typeface="Segoe UI"/>
                <a:ea typeface="Meiryo"/>
                <a:hlinkClick r:id="rId2"/>
              </a:rPr>
              <a:t>protogen</a:t>
            </a: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) 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Opaque → blocks any see-through capability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950" b="0" u="sng" strike="noStrike" spc="-1">
                <a:solidFill>
                  <a:schemeClr val="dk1"/>
                </a:solidFill>
                <a:uFillTx/>
                <a:latin typeface="Segoe UI"/>
                <a:ea typeface="Meiryo"/>
                <a:hlinkClick r:id="rId3"/>
              </a:rPr>
              <a:t>Flexible RGB LED matrix</a:t>
            </a: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 shaped to eye curvature 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Fully non-transparent display unit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19" name="TextBox 1"/>
          <p:cNvSpPr/>
          <p:nvPr/>
        </p:nvSpPr>
        <p:spPr>
          <a:xfrm>
            <a:off x="6095880" y="2241000"/>
            <a:ext cx="42840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Include some informative visuals – diagrams, graphs, images, videos, etc.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5735880" y="2061000"/>
            <a:ext cx="5184360" cy="38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5663880" y="1917000"/>
            <a:ext cx="536436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22" name="Rectangle 5"/>
          <p:cNvSpPr/>
          <p:nvPr/>
        </p:nvSpPr>
        <p:spPr>
          <a:xfrm>
            <a:off x="5519880" y="2133000"/>
            <a:ext cx="5724360" cy="34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pic>
        <p:nvPicPr>
          <p:cNvPr id="123" name="Picture 122"/>
          <p:cNvPicPr/>
          <p:nvPr/>
        </p:nvPicPr>
        <p:blipFill>
          <a:blip r:embed="rId4"/>
          <a:stretch/>
        </p:blipFill>
        <p:spPr>
          <a:xfrm>
            <a:off x="6172200" y="2133000"/>
            <a:ext cx="4114800" cy="4114800"/>
          </a:xfrm>
          <a:prstGeom prst="rect">
            <a:avLst/>
          </a:prstGeom>
          <a:ln w="0">
            <a:noFill/>
          </a:ln>
        </p:spPr>
      </p:pic>
      <p:sp>
        <p:nvSpPr>
          <p:cNvPr id="124" name="Content Placeholder 9"/>
          <p:cNvSpPr txBox="1"/>
          <p:nvPr/>
        </p:nvSpPr>
        <p:spPr>
          <a:xfrm>
            <a:off x="3951360" y="548640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72C9BD6-C551-461E-8EAF-1CA6E5231EB3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400" b="1" strike="noStrike" spc="-1">
                <a:solidFill>
                  <a:schemeClr val="lt1"/>
                </a:solidFill>
                <a:latin typeface="Segoe UI"/>
                <a:ea typeface="メイリオ"/>
              </a:rPr>
              <a:t>Transparent Rigid Display + Backlight + White Perforated Background</a:t>
            </a:r>
            <a:endParaRPr lang="en-US" sz="24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62000" y="187776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1800" b="0" u="sng" strike="noStrike" spc="-1">
                <a:solidFill>
                  <a:schemeClr val="dk1"/>
                </a:solidFill>
                <a:uFillTx/>
                <a:latin typeface="Segoe UI"/>
                <a:ea typeface="Meiryo"/>
                <a:hlinkClick r:id="rId2"/>
              </a:rPr>
              <a:t>Transparent display pane</a:t>
            </a: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l (e.g. transparent OLED/LCD)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1800" b="0" u="sng" strike="noStrike" spc="-1">
                <a:solidFill>
                  <a:schemeClr val="dk1"/>
                </a:solidFill>
                <a:uFillTx/>
                <a:latin typeface="Segoe UI"/>
                <a:ea typeface="Meiryo"/>
                <a:hlinkClick r:id="rId3"/>
              </a:rPr>
              <a:t>Dedicated backlight system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1800" b="0" u="sng" strike="noStrike" spc="-1">
                <a:solidFill>
                  <a:schemeClr val="dk1"/>
                </a:solidFill>
                <a:uFillTx/>
                <a:latin typeface="Segoe UI"/>
                <a:ea typeface="Meiryo"/>
                <a:hlinkClick r:id="rId4"/>
              </a:rPr>
              <a:t>White perforated background plate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Can solve both: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quality animated eyes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Wearer seeing outside through eye region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2100" b="0" strike="noStrike" spc="-1">
                <a:solidFill>
                  <a:schemeClr val="dk1"/>
                </a:solidFill>
                <a:latin typeface="Segoe UI"/>
              </a:rPr>
              <a:t>Cons: Lower brightness, single color </a:t>
            </a: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chemeClr val="dk1"/>
                </a:solidFill>
                <a:latin typeface="Segoe UI"/>
              </a:rPr>
              <a:t>Rigid, size-limited components</a:t>
            </a:r>
          </a:p>
          <a:p>
            <a:pPr marL="421920"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strike="noStrike" spc="-1">
                <a:solidFill>
                  <a:schemeClr val="dk1"/>
                </a:solidFill>
                <a:latin typeface="Segoe UI"/>
              </a:rPr>
              <a:t> </a:t>
            </a:r>
          </a:p>
          <a:p>
            <a:pPr marL="421920"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 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Very complex, but may be the most effective: both see-through capability and power-off eye display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28" name="Rectangle 7"/>
          <p:cNvSpPr/>
          <p:nvPr/>
        </p:nvSpPr>
        <p:spPr>
          <a:xfrm>
            <a:off x="5735880" y="2061000"/>
            <a:ext cx="5184360" cy="38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5663880" y="1917000"/>
            <a:ext cx="536436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30" name="Rectangle 9"/>
          <p:cNvSpPr/>
          <p:nvPr/>
        </p:nvSpPr>
        <p:spPr>
          <a:xfrm>
            <a:off x="5519880" y="2133000"/>
            <a:ext cx="5724360" cy="34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8158320" y="2374560"/>
            <a:ext cx="1011960" cy="3309840"/>
          </a:xfrm>
          <a:prstGeom prst="rect">
            <a:avLst/>
          </a:prstGeom>
          <a:solidFill>
            <a:srgbClr val="AADCF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0470960" y="2374560"/>
            <a:ext cx="144720" cy="3447360"/>
          </a:xfrm>
          <a:prstGeom prst="rect">
            <a:avLst/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9748080" y="2236320"/>
            <a:ext cx="433800" cy="414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9748080" y="5546160"/>
            <a:ext cx="433800" cy="414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traight Connector 134"/>
          <p:cNvSpPr/>
          <p:nvPr/>
        </p:nvSpPr>
        <p:spPr>
          <a:xfrm flipH="1">
            <a:off x="9170280" y="2374560"/>
            <a:ext cx="578160" cy="275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traight Connector 135"/>
          <p:cNvSpPr/>
          <p:nvPr/>
        </p:nvSpPr>
        <p:spPr>
          <a:xfrm flipH="1">
            <a:off x="9170280" y="2512080"/>
            <a:ext cx="722520" cy="8276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traight Connector 136"/>
          <p:cNvSpPr/>
          <p:nvPr/>
        </p:nvSpPr>
        <p:spPr>
          <a:xfrm flipH="1">
            <a:off x="9170280" y="2650320"/>
            <a:ext cx="867240" cy="1379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traight Connector 137"/>
          <p:cNvSpPr/>
          <p:nvPr/>
        </p:nvSpPr>
        <p:spPr>
          <a:xfrm flipH="1" flipV="1">
            <a:off x="9170280" y="4442760"/>
            <a:ext cx="722520" cy="110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traight Connector 138"/>
          <p:cNvSpPr/>
          <p:nvPr/>
        </p:nvSpPr>
        <p:spPr>
          <a:xfrm>
            <a:off x="9170280" y="4856760"/>
            <a:ext cx="722520" cy="8276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traight Connector 139"/>
          <p:cNvSpPr/>
          <p:nvPr/>
        </p:nvSpPr>
        <p:spPr>
          <a:xfrm>
            <a:off x="9170280" y="5270400"/>
            <a:ext cx="578160" cy="414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Picture 140"/>
          <p:cNvPicPr/>
          <p:nvPr/>
        </p:nvPicPr>
        <p:blipFill>
          <a:blip r:embed="rId5"/>
          <a:srcRect r="6237"/>
          <a:stretch/>
        </p:blipFill>
        <p:spPr>
          <a:xfrm>
            <a:off x="6464880" y="1933560"/>
            <a:ext cx="1665360" cy="4296960"/>
          </a:xfrm>
          <a:prstGeom prst="rect">
            <a:avLst/>
          </a:prstGeom>
          <a:ln w="0">
            <a:noFill/>
          </a:ln>
        </p:spPr>
      </p:pic>
      <p:sp>
        <p:nvSpPr>
          <p:cNvPr id="142" name="Content Placeholder 10"/>
          <p:cNvSpPr txBox="1"/>
          <p:nvPr/>
        </p:nvSpPr>
        <p:spPr>
          <a:xfrm>
            <a:off x="5609880" y="3763800"/>
            <a:ext cx="373572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strike="noStrike" spc="-1">
                <a:solidFill>
                  <a:schemeClr val="dk1"/>
                </a:solidFill>
                <a:latin typeface="Segoe UI"/>
                <a:ea typeface="Meiryo"/>
              </a:rPr>
              <a:t>Outer structure</a:t>
            </a: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 </a:t>
            </a: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    </a:t>
            </a: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Display</a:t>
            </a:r>
            <a:r>
              <a:rPr lang="en-US" sz="2000" b="0" strike="noStrike" spc="-1">
                <a:solidFill>
                  <a:schemeClr val="dk1"/>
                </a:solidFill>
                <a:latin typeface="Segoe UI"/>
                <a:ea typeface="Meiryo"/>
              </a:rPr>
              <a:t>   </a:t>
            </a:r>
            <a:endParaRPr lang="en-US" sz="20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43" name="Content Placeholder 11"/>
          <p:cNvSpPr txBox="1"/>
          <p:nvPr/>
        </p:nvSpPr>
        <p:spPr>
          <a:xfrm>
            <a:off x="8895600" y="1831680"/>
            <a:ext cx="213408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Led backlights</a:t>
            </a:r>
            <a:endParaRPr lang="en-US" sz="2000" b="1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44" name="Content Placeholder 12"/>
          <p:cNvSpPr txBox="1"/>
          <p:nvPr/>
        </p:nvSpPr>
        <p:spPr>
          <a:xfrm>
            <a:off x="9351360" y="3874680"/>
            <a:ext cx="1788840" cy="47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Background</a:t>
            </a:r>
            <a:endParaRPr lang="en-US" sz="2000" b="1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11112480" y="2401560"/>
            <a:ext cx="2126160" cy="3382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Content Placeholder 13"/>
          <p:cNvSpPr txBox="1"/>
          <p:nvPr/>
        </p:nvSpPr>
        <p:spPr>
          <a:xfrm>
            <a:off x="10739880" y="2867040"/>
            <a:ext cx="1656360" cy="47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Segoe UI"/>
                <a:ea typeface="Meiryo"/>
              </a:rPr>
              <a:t>Fursuiter’s eye</a:t>
            </a:r>
            <a:endParaRPr lang="en-US" sz="2000" b="1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47" name="Straight Connector 146"/>
          <p:cNvSpPr/>
          <p:nvPr/>
        </p:nvSpPr>
        <p:spPr>
          <a:xfrm flipH="1" flipV="1">
            <a:off x="5079960" y="4486320"/>
            <a:ext cx="6032520" cy="13680"/>
          </a:xfrm>
          <a:prstGeom prst="line">
            <a:avLst/>
          </a:prstGeom>
          <a:ln w="82440">
            <a:solidFill>
              <a:srgbClr val="63BBE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0320" tIns="-71640" rIns="130320" bIns="-7164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traight Connector 147"/>
          <p:cNvSpPr/>
          <p:nvPr/>
        </p:nvSpPr>
        <p:spPr>
          <a:xfrm flipH="1" flipV="1">
            <a:off x="5128560" y="3555000"/>
            <a:ext cx="6032520" cy="13680"/>
          </a:xfrm>
          <a:prstGeom prst="line">
            <a:avLst/>
          </a:prstGeom>
          <a:ln w="82440">
            <a:solidFill>
              <a:srgbClr val="63BBE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0320" tIns="-71640" rIns="130320" bIns="-7164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CB99B8F-63DE-47D0-AFEF-5F9C8AB9B2C4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75520" y="152640"/>
            <a:ext cx="1058220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strike="noStrike" spc="-1">
                <a:solidFill>
                  <a:schemeClr val="lt1"/>
                </a:solidFill>
                <a:latin typeface="Segoe UI"/>
                <a:ea typeface="メイリオ"/>
              </a:rPr>
              <a:t>High-Resolution Rigid OLED / LCD </a:t>
            </a:r>
            <a:endParaRPr lang="en-US" sz="32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228600" y="2057400"/>
            <a:ext cx="10582200" cy="453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Pros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Best visual quality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Mature, reliable display technology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Simplest to engineer and scale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421920" indent="-42192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4D4D4D"/>
              </a:buClr>
              <a:buSzPct val="130000"/>
              <a:buFont typeface="Wingdings" charset="2"/>
              <a:buChar char="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Cons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Rigid (no curvature)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Opaque (blocks see-through)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  <a:p>
            <a:pPr marL="864000" lvl="1" indent="-324000" defTabSz="11253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Requires design work to avoid “dead black eye” </a:t>
            </a:r>
            <a:endParaRPr lang="en-US" sz="18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78320" y="80928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950" b="0" strike="noStrike" spc="-1">
                <a:solidFill>
                  <a:schemeClr val="dk1"/>
                </a:solidFill>
                <a:latin typeface="Segoe UI"/>
                <a:ea typeface="Meiryo"/>
              </a:rPr>
              <a:t>Standard small high-resolution OLED or LCD panel</a:t>
            </a:r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chemeClr val="dk1"/>
                </a:solidFill>
                <a:latin typeface="Segoe UI"/>
                <a:ea typeface="Meiryo"/>
              </a:rPr>
              <a:t>Default eye handled via: Printed layer with tuned transparency, or Failsafe lighting</a:t>
            </a:r>
            <a:endParaRPr lang="en-US" sz="21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6095880" y="2241000"/>
            <a:ext cx="42840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Segoe UI"/>
                <a:ea typeface="Meiryo"/>
              </a:rPr>
              <a:t>Include some informative visuals – diagrams, graphs, images, videos, etc.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10"/>
          <p:cNvSpPr/>
          <p:nvPr/>
        </p:nvSpPr>
        <p:spPr>
          <a:xfrm>
            <a:off x="5735880" y="2061000"/>
            <a:ext cx="5184360" cy="38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54" name="Rectangle 11"/>
          <p:cNvSpPr/>
          <p:nvPr/>
        </p:nvSpPr>
        <p:spPr>
          <a:xfrm>
            <a:off x="5663880" y="1917000"/>
            <a:ext cx="536436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55" name="Rectangle 12"/>
          <p:cNvSpPr/>
          <p:nvPr/>
        </p:nvSpPr>
        <p:spPr>
          <a:xfrm>
            <a:off x="5519880" y="2133000"/>
            <a:ext cx="5724360" cy="34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156" name="Content Placeholder 16"/>
          <p:cNvSpPr txBox="1"/>
          <p:nvPr/>
        </p:nvSpPr>
        <p:spPr>
          <a:xfrm>
            <a:off x="3951360" y="5486400"/>
            <a:ext cx="10679040" cy="125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95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157" name="Picture 156"/>
          <p:cNvPicPr/>
          <p:nvPr/>
        </p:nvPicPr>
        <p:blipFill>
          <a:blip r:embed="rId2"/>
          <a:stretch/>
        </p:blipFill>
        <p:spPr>
          <a:xfrm>
            <a:off x="6192360" y="2227320"/>
            <a:ext cx="4660560" cy="34977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8FD73B8E-840F-45D4-9798-E82AE7C92D06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224000" y="188640"/>
            <a:ext cx="9925200" cy="79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4430" b="0" strike="noStrike" spc="-1">
              <a:solidFill>
                <a:schemeClr val="dk1"/>
              </a:solidFill>
              <a:latin typeface="Segoe UI"/>
            </a:endParaRPr>
          </a:p>
        </p:txBody>
      </p:sp>
      <p:graphicFrame>
        <p:nvGraphicFramePr>
          <p:cNvPr id="159" name="Table 158"/>
          <p:cNvGraphicFramePr/>
          <p:nvPr/>
        </p:nvGraphicFramePr>
        <p:xfrm>
          <a:off x="1220400" y="1116360"/>
          <a:ext cx="9316080" cy="5363760"/>
        </p:xfrm>
        <a:graphic>
          <a:graphicData uri="http://schemas.openxmlformats.org/drawingml/2006/table">
            <a:tbl>
              <a:tblPr/>
              <a:tblGrid>
                <a:gridCol w="190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004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Option 1: Flexible LED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Option 2: Transparent + Backlight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Option 3: Rigid OLED/LCD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4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Visual Detail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Low (~30x40 px)</a:t>
                      </a:r>
                    </a:p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(like Protogens)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Medium(~200x150 px)</a:t>
                      </a:r>
                    </a:p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(but single-color)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Very High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 (~720p)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4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Flexibility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4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Complexity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4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Default Eye When power Off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Possible </a:t>
                      </a:r>
                    </a:p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(design-dependent)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Possible </a:t>
                      </a:r>
                    </a:p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(design-dependent)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2560"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See-Through Capability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224000" y="188640"/>
            <a:ext cx="9925200" cy="79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920" b="1" strike="noStrike" spc="-1">
                <a:solidFill>
                  <a:schemeClr val="dk1"/>
                </a:solidFill>
                <a:latin typeface="Segoe UI"/>
                <a:ea typeface="メイリオ"/>
              </a:rPr>
              <a:t>Main Control Unit (MCU)</a:t>
            </a:r>
            <a:endParaRPr lang="en-US" sz="4920" b="0" strike="noStrike" spc="-1">
              <a:solidFill>
                <a:schemeClr val="dk1"/>
              </a:solidFill>
              <a:latin typeface="Segoe U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07840" y="1373040"/>
            <a:ext cx="9936360" cy="525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10" b="1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Standard Raspberry Pi Zero 2 W </a:t>
            </a:r>
            <a:r>
              <a:rPr lang="en-US" sz="2208" b="1" strike="noStrike" spc="-1" baseline="-8000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[1]</a:t>
            </a:r>
            <a:endParaRPr lang="en-US" sz="2210" b="1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10" b="1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10" b="1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Screens will come with Display Controller / Driver IC</a:t>
            </a: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chemeClr val="lt2">
                    <a:lumMod val="50000"/>
                  </a:schemeClr>
                </a:solidFill>
                <a:latin typeface="Segoe UI"/>
                <a:ea typeface="Meiryo"/>
              </a:rPr>
              <a:t>For ini demo: Connect components to the MCU with cables/GPIO</a:t>
            </a: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10" b="1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210" b="0" strike="noStrike" spc="-1">
              <a:solidFill>
                <a:schemeClr val="dk1"/>
              </a:solidFill>
              <a:latin typeface="Segoe UI"/>
            </a:endParaRPr>
          </a:p>
          <a:p>
            <a:pPr indent="0" defTabSz="11253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strike="noStrike" spc="-1">
              <a:solidFill>
                <a:schemeClr val="dk1"/>
              </a:solidFill>
              <a:latin typeface="Segoe UI"/>
            </a:endParaRPr>
          </a:p>
        </p:txBody>
      </p:sp>
      <p:pic>
        <p:nvPicPr>
          <p:cNvPr id="162" name="Picture 161"/>
          <p:cNvPicPr/>
          <p:nvPr/>
        </p:nvPicPr>
        <p:blipFill>
          <a:blip r:embed="rId2"/>
          <a:stretch/>
        </p:blipFill>
        <p:spPr>
          <a:xfrm>
            <a:off x="5143320" y="1371600"/>
            <a:ext cx="3772080" cy="251460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162"/>
          <p:cNvPicPr/>
          <p:nvPr/>
        </p:nvPicPr>
        <p:blipFill>
          <a:blip r:embed="rId3"/>
          <a:stretch/>
        </p:blipFill>
        <p:spPr>
          <a:xfrm>
            <a:off x="1828800" y="1752480"/>
            <a:ext cx="3200400" cy="2133720"/>
          </a:xfrm>
          <a:prstGeom prst="rect">
            <a:avLst/>
          </a:prstGeom>
          <a:ln w="0">
            <a:noFill/>
          </a:ln>
        </p:spPr>
      </p:pic>
      <p:sp>
        <p:nvSpPr>
          <p:cNvPr id="164" name="Title 7"/>
          <p:cNvSpPr txBox="1"/>
          <p:nvPr/>
        </p:nvSpPr>
        <p:spPr>
          <a:xfrm>
            <a:off x="4114800" y="6523560"/>
            <a:ext cx="9925200" cy="79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112536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strike="noStrike" spc="-1">
                <a:solidFill>
                  <a:srgbClr val="000000"/>
                </a:solidFill>
                <a:latin typeface="Segoe UI"/>
                <a:ea typeface="メイリオ"/>
              </a:rPr>
              <a:t>[1] Source: https://www.raspberrypi.com/products/raspberry-pi-zero-2-w/</a:t>
            </a:r>
            <a:endParaRPr lang="en-US" sz="1200" b="0" strike="noStrike" spc="-1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0071BC"/>
      </a:hlink>
      <a:folHlink>
        <a:srgbClr val="0071B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15106</TotalTime>
  <Words>485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メイリオ</vt:lpstr>
      <vt:lpstr>Arial</vt:lpstr>
      <vt:lpstr>Segoe UI</vt:lpstr>
      <vt:lpstr>Symbol</vt:lpstr>
      <vt:lpstr>Times New Roman</vt:lpstr>
      <vt:lpstr>Wingdings</vt:lpstr>
      <vt:lpstr>PowerPoint Design</vt:lpstr>
      <vt:lpstr>PowerPoint Design</vt:lpstr>
      <vt:lpstr>PowerPoint Design</vt:lpstr>
      <vt:lpstr>PowerPoint Design</vt:lpstr>
      <vt:lpstr>PowerPoint Design</vt:lpstr>
      <vt:lpstr>PowerPoint Design</vt:lpstr>
      <vt:lpstr>PowerPoint Design</vt:lpstr>
      <vt:lpstr>PowerPoint Design</vt:lpstr>
      <vt:lpstr>2025.1.11 Electronic Eye Display </vt:lpstr>
      <vt:lpstr>Overall structure</vt:lpstr>
      <vt:lpstr>Flexible LED Matrix </vt:lpstr>
      <vt:lpstr>Transparent Rigid Display + Backlight + White Perforated Background</vt:lpstr>
      <vt:lpstr>High-Resolution Rigid OLED / LCD </vt:lpstr>
      <vt:lpstr>PowerPoint Presentation</vt:lpstr>
      <vt:lpstr>Main Control Unit (MCU)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CERLAB</dc:title>
  <dc:subject/>
  <dc:creator>Kenji Shimada</dc:creator>
  <dc:description/>
  <cp:lastModifiedBy>Kristall Chen</cp:lastModifiedBy>
  <cp:revision>97</cp:revision>
  <dcterms:created xsi:type="dcterms:W3CDTF">2013-06-19T15:30:58Z</dcterms:created>
  <dcterms:modified xsi:type="dcterms:W3CDTF">2026-01-31T03:36:48Z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6</vt:r8>
  </property>
</Properties>
</file>